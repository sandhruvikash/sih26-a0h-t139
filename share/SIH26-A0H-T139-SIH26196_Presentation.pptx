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85510" y="1376470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7" y="0"/>
                </a:lnTo>
                <a:lnTo>
                  <a:pt x="6957907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053525" y="3160395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88369" y="-758338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02538" y="2659581"/>
            <a:ext cx="8703945" cy="589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endParaRPr dirty="0"/>
          </a:p>
          <a:p>
            <a:pPr marL="615313" lvl="1" indent="-307657" algn="just">
              <a:lnSpc>
                <a:spcPts val="5303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 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SIH26196</a:t>
            </a: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marL="615313" lvl="1" indent="-307657" algn="just">
              <a:lnSpc>
                <a:spcPts val="5303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 Innovation — Ideas that can boost fitness activities and assist in keeping fit</a:t>
            </a:r>
          </a:p>
          <a:p>
            <a:pPr marL="615313" lvl="1" indent="-307657" algn="just">
              <a:lnSpc>
                <a:spcPts val="5303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 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Fitness and sports</a:t>
            </a:r>
          </a:p>
          <a:p>
            <a:pPr marL="615313" lvl="1" indent="-307657" algn="just">
              <a:lnSpc>
                <a:spcPts val="5303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615313" lvl="1" indent="-307657" algn="just">
              <a:lnSpc>
                <a:spcPts val="5303"/>
              </a:lnSpc>
              <a:buFont typeface="Arial"/>
              <a:buChar char="•"/>
            </a:pPr>
            <a:r>
              <a:rPr lang="en-US" sz="3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SIH26-A0H-T139</a:t>
            </a:r>
          </a:p>
          <a:p>
            <a:pPr marL="615313" lvl="1" indent="-307657" algn="just">
              <a:lnSpc>
                <a:spcPts val="5303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  –  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ELECTRASIX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FITQUEST CAMPUS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ELECTRASIX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470535" y="1773555"/>
            <a:ext cx="5560314" cy="2061778"/>
            <a:chOff x="0" y="0"/>
            <a:chExt cx="7413752" cy="27490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13752" cy="2749038"/>
            </a:xfrm>
            <a:custGeom>
              <a:avLst/>
              <a:gdLst/>
              <a:ahLst/>
              <a:cxnLst/>
              <a:rect l="l" t="t" r="r" b="b"/>
              <a:pathLst>
                <a:path w="7413752" h="2749038">
                  <a:moveTo>
                    <a:pt x="0" y="123735"/>
                  </a:moveTo>
                  <a:cubicBezTo>
                    <a:pt x="0" y="55429"/>
                    <a:pt x="50292" y="0"/>
                    <a:pt x="112268" y="0"/>
                  </a:cubicBezTo>
                  <a:lnTo>
                    <a:pt x="7301484" y="0"/>
                  </a:lnTo>
                  <a:cubicBezTo>
                    <a:pt x="7363460" y="0"/>
                    <a:pt x="7413752" y="55429"/>
                    <a:pt x="7413752" y="123735"/>
                  </a:cubicBezTo>
                  <a:lnTo>
                    <a:pt x="7413752" y="2625303"/>
                  </a:lnTo>
                  <a:cubicBezTo>
                    <a:pt x="7413752" y="2693609"/>
                    <a:pt x="7363460" y="2749038"/>
                    <a:pt x="7301484" y="2749038"/>
                  </a:cubicBezTo>
                  <a:lnTo>
                    <a:pt x="112268" y="2749038"/>
                  </a:lnTo>
                  <a:cubicBezTo>
                    <a:pt x="50292" y="2749038"/>
                    <a:pt x="0" y="2693609"/>
                    <a:pt x="0" y="2625303"/>
                  </a:cubicBezTo>
                  <a:close/>
                </a:path>
              </a:pathLst>
            </a:custGeom>
            <a:solidFill>
              <a:srgbClr val="DCEBF7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7413752" cy="276808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819"/>
                </a:lnSpc>
              </a:pPr>
              <a:r>
                <a:rPr lang="en-US" sz="2349" b="1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Challenge We're Solving</a:t>
              </a:r>
            </a:p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Campus fitness participation is low:</a:t>
              </a:r>
              <a:r>
                <a:rPr lang="en-US" sz="1974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students face two barriers — no equipment and no motivation — and most apps track only one activity while leaving day scholars out of hostel-only competitions.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5612" y="3899535"/>
            <a:ext cx="5560314" cy="5505450"/>
            <a:chOff x="0" y="0"/>
            <a:chExt cx="7413752" cy="7340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13752" cy="7340600"/>
            </a:xfrm>
            <a:custGeom>
              <a:avLst/>
              <a:gdLst/>
              <a:ahLst/>
              <a:cxnLst/>
              <a:rect l="l" t="t" r="r" b="b"/>
              <a:pathLst>
                <a:path w="7413752" h="7340600">
                  <a:moveTo>
                    <a:pt x="0" y="330327"/>
                  </a:moveTo>
                  <a:cubicBezTo>
                    <a:pt x="0" y="147955"/>
                    <a:pt x="147955" y="0"/>
                    <a:pt x="330327" y="0"/>
                  </a:cubicBezTo>
                  <a:lnTo>
                    <a:pt x="7083425" y="0"/>
                  </a:lnTo>
                  <a:cubicBezTo>
                    <a:pt x="7265797" y="0"/>
                    <a:pt x="7413752" y="147955"/>
                    <a:pt x="7413752" y="330327"/>
                  </a:cubicBezTo>
                  <a:lnTo>
                    <a:pt x="7413752" y="7010273"/>
                  </a:lnTo>
                  <a:cubicBezTo>
                    <a:pt x="7413752" y="7192645"/>
                    <a:pt x="7265797" y="7340600"/>
                    <a:pt x="7083425" y="7340600"/>
                  </a:cubicBezTo>
                  <a:lnTo>
                    <a:pt x="330327" y="7340600"/>
                  </a:lnTo>
                  <a:cubicBezTo>
                    <a:pt x="147955" y="7340600"/>
                    <a:pt x="0" y="7192645"/>
                    <a:pt x="0" y="7010273"/>
                  </a:cubicBezTo>
                  <a:close/>
                </a:path>
              </a:pathLst>
            </a:custGeom>
            <a:solidFill>
              <a:srgbClr val="DCEBF7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7413752" cy="73596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60"/>
                </a:lnSpc>
              </a:pPr>
              <a:r>
                <a:rPr lang="en-US" sz="2300" b="1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Our Solution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Multi-Activity AI Verification: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Squats, push-ups, planks, running, cycling, walking — all verified on-device via MediaPipe pose detection and phone sensors.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Fair Calorie Scoreboard: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MET-based formulas convert every activity into one universal calories-burned metric across all students.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• Flexible Leaderboards: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Hostel-vs-Hostel or Department/Class-wise — admins pick whichever fits their campus, and both can run side by side.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54699" y="1773555"/>
            <a:ext cx="5560314" cy="7631430"/>
            <a:chOff x="0" y="0"/>
            <a:chExt cx="7413752" cy="101752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413752" cy="10175240"/>
            </a:xfrm>
            <a:custGeom>
              <a:avLst/>
              <a:gdLst/>
              <a:ahLst/>
              <a:cxnLst/>
              <a:rect l="l" t="t" r="r" b="b"/>
              <a:pathLst>
                <a:path w="7413752" h="10175240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7080123" y="0"/>
                  </a:lnTo>
                  <a:cubicBezTo>
                    <a:pt x="7264400" y="0"/>
                    <a:pt x="7413752" y="149352"/>
                    <a:pt x="7413752" y="333629"/>
                  </a:cubicBezTo>
                  <a:lnTo>
                    <a:pt x="7413752" y="9841611"/>
                  </a:lnTo>
                  <a:cubicBezTo>
                    <a:pt x="7413752" y="10025888"/>
                    <a:pt x="7264400" y="10175240"/>
                    <a:pt x="7080123" y="10175240"/>
                  </a:cubicBezTo>
                  <a:lnTo>
                    <a:pt x="333629" y="10175240"/>
                  </a:lnTo>
                  <a:cubicBezTo>
                    <a:pt x="149352" y="10175240"/>
                    <a:pt x="0" y="10025888"/>
                    <a:pt x="0" y="9841611"/>
                  </a:cubicBezTo>
                  <a:close/>
                </a:path>
              </a:pathLst>
            </a:custGeom>
            <a:solidFill>
              <a:srgbClr val="FDE9D9"/>
            </a:solidFill>
            <a:ln w="19050" cap="sq">
              <a:solidFill>
                <a:srgbClr val="E36C0A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7413752" cy="1019429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60"/>
                </a:lnSpc>
              </a:pPr>
              <a:r>
                <a:rPr lang="en-US" sz="2300" b="1">
                  <a:solidFill>
                    <a:srgbClr val="E36C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Addressing the Core Problem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Zero Equipment Needed: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Bodyweight exercises verified entirely via phone camera — no wearables or gym gear required.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Zero Motivation Gap: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Weekly class-wide competitions and squad streaks turn fitness into a social game.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Fair to Everyone: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Calorie-based scoring lets a 20-minute jog compete fairly against a set of push-ups.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 Inclusive by Design: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Day scholars compete equally via department/class leagues, not just hostel blocks.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238863" y="1773555"/>
            <a:ext cx="5560314" cy="7631430"/>
            <a:chOff x="0" y="0"/>
            <a:chExt cx="7413752" cy="101752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413752" cy="10175240"/>
            </a:xfrm>
            <a:custGeom>
              <a:avLst/>
              <a:gdLst/>
              <a:ahLst/>
              <a:cxnLst/>
              <a:rect l="l" t="t" r="r" b="b"/>
              <a:pathLst>
                <a:path w="7413752" h="10175240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7080123" y="0"/>
                  </a:lnTo>
                  <a:cubicBezTo>
                    <a:pt x="7264400" y="0"/>
                    <a:pt x="7413752" y="149352"/>
                    <a:pt x="7413752" y="333629"/>
                  </a:cubicBezTo>
                  <a:lnTo>
                    <a:pt x="7413752" y="9841611"/>
                  </a:lnTo>
                  <a:cubicBezTo>
                    <a:pt x="7413752" y="10025888"/>
                    <a:pt x="7264400" y="10175240"/>
                    <a:pt x="7080123" y="10175240"/>
                  </a:cubicBezTo>
                  <a:lnTo>
                    <a:pt x="333629" y="10175240"/>
                  </a:lnTo>
                  <a:cubicBezTo>
                    <a:pt x="149352" y="10175240"/>
                    <a:pt x="0" y="10025888"/>
                    <a:pt x="0" y="9841611"/>
                  </a:cubicBezTo>
                  <a:close/>
                </a:path>
              </a:pathLst>
            </a:custGeom>
            <a:solidFill>
              <a:srgbClr val="E2EFDA"/>
            </a:solidFill>
            <a:ln w="19050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7413752" cy="1019429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60"/>
                </a:lnSpc>
              </a:pPr>
              <a:r>
                <a:rPr lang="en-US" sz="2300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Makes Us Different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AI-Verified, Not Self-Reported: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On-device MediaPipe pose detection (33 keypoints) — no way to fake reps.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100% On-Device Privacy: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Zero video ever leaves the student's phone.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Universal Calorie Metric: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Every exercise type compared apples-to-apples via MET-based formulas.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 Whole-Class Rewards: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Top 3 classes win together — not just individual leaderboard toppers.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 Free-Tier Feasible:</a:t>
              </a: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Built entirely on free-tier infrastructure, keeping cost near zero at campus scale.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ELECTRASIX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480060" y="2098548"/>
            <a:ext cx="17323308" cy="274320"/>
            <a:chOff x="0" y="0"/>
            <a:chExt cx="23097744" cy="3657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097745" cy="365760"/>
            </a:xfrm>
            <a:custGeom>
              <a:avLst/>
              <a:gdLst/>
              <a:ahLst/>
              <a:cxnLst/>
              <a:rect l="l" t="t" r="r" b="b"/>
              <a:pathLst>
                <a:path w="23097745" h="3657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3036785" y="0"/>
                  </a:lnTo>
                  <a:cubicBezTo>
                    <a:pt x="23070440" y="0"/>
                    <a:pt x="23097745" y="27305"/>
                    <a:pt x="23097745" y="60960"/>
                  </a:cubicBezTo>
                  <a:lnTo>
                    <a:pt x="23097745" y="304800"/>
                  </a:lnTo>
                  <a:cubicBezTo>
                    <a:pt x="23097745" y="338455"/>
                    <a:pt x="23070440" y="365760"/>
                    <a:pt x="23036785" y="365760"/>
                  </a:cubicBezTo>
                  <a:lnTo>
                    <a:pt x="60960" y="365760"/>
                  </a:lnTo>
                  <a:cubicBezTo>
                    <a:pt x="27305" y="365760"/>
                    <a:pt x="0" y="338455"/>
                    <a:pt x="0" y="30480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762506" y="1851660"/>
            <a:ext cx="754380" cy="754380"/>
            <a:chOff x="0" y="0"/>
            <a:chExt cx="1005840" cy="10058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25780" y="2820162"/>
            <a:ext cx="3227832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Pick Activity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Camera-based bodyweight exercise, or a run/cycle with GPS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164074" y="1851660"/>
            <a:ext cx="754380" cy="754380"/>
            <a:chOff x="0" y="0"/>
            <a:chExt cx="1005840" cy="10058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927348" y="2820162"/>
            <a:ext cx="3227832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AI Verification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MediaPipe tracks 33 keypoints (reps) or phone tracks distance/pace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565642" y="1851660"/>
            <a:ext cx="754380" cy="754380"/>
            <a:chOff x="0" y="0"/>
            <a:chExt cx="1005840" cy="10058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328916" y="2820162"/>
            <a:ext cx="3227832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Calorie Engine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MET-based formulas convert verified activity to calories burned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967210" y="1851660"/>
            <a:ext cx="754380" cy="754380"/>
            <a:chOff x="0" y="0"/>
            <a:chExt cx="1005840" cy="1005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730484" y="2820162"/>
            <a:ext cx="3227832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Live Leaderboard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Calories pushed via WebSocket to the student's chosen board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5368778" y="1851660"/>
            <a:ext cx="754380" cy="754380"/>
            <a:chOff x="0" y="0"/>
            <a:chExt cx="1005840" cy="1005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4132052" y="2820162"/>
            <a:ext cx="3227832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Weekly Rewards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Top 3 classes/blocks crowned; admin dashboard aggregates data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0060" y="4850130"/>
            <a:ext cx="82296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 b="1">
                <a:solidFill>
                  <a:srgbClr val="4F7942"/>
                </a:solidFill>
                <a:latin typeface="Arial Bold"/>
                <a:ea typeface="Arial Bold"/>
                <a:cs typeface="Arial Bold"/>
                <a:sym typeface="Arial Bold"/>
              </a:rPr>
              <a:t>Technologies Used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472916" y="5547836"/>
            <a:ext cx="5637847" cy="1865947"/>
            <a:chOff x="0" y="0"/>
            <a:chExt cx="7517130" cy="248793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517130" cy="2487930"/>
            </a:xfrm>
            <a:custGeom>
              <a:avLst/>
              <a:gdLst/>
              <a:ahLst/>
              <a:cxnLst/>
              <a:rect l="l" t="t" r="r" b="b"/>
              <a:pathLst>
                <a:path w="7517130" h="248793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7318121" y="0"/>
                  </a:lnTo>
                  <a:cubicBezTo>
                    <a:pt x="7428102" y="0"/>
                    <a:pt x="7517130" y="89154"/>
                    <a:pt x="7517130" y="199009"/>
                  </a:cubicBezTo>
                  <a:lnTo>
                    <a:pt x="7517130" y="2288921"/>
                  </a:lnTo>
                  <a:cubicBezTo>
                    <a:pt x="7517130" y="2398903"/>
                    <a:pt x="7427976" y="2487930"/>
                    <a:pt x="7318121" y="2487930"/>
                  </a:cubicBezTo>
                  <a:lnTo>
                    <a:pt x="199009" y="2487930"/>
                  </a:lnTo>
                  <a:cubicBezTo>
                    <a:pt x="89154" y="2487930"/>
                    <a:pt x="0" y="2398776"/>
                    <a:pt x="0" y="2288921"/>
                  </a:cubicBezTo>
                  <a:close/>
                </a:path>
              </a:pathLst>
            </a:custGeom>
            <a:solidFill>
              <a:srgbClr val="F2F2F2"/>
            </a:solidFill>
            <a:ln w="14288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517130" cy="2506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React + Vite • TailwindCSS • Installable PWA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02216" y="5547836"/>
            <a:ext cx="5637847" cy="1865947"/>
            <a:chOff x="0" y="0"/>
            <a:chExt cx="7517130" cy="248793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517130" cy="2487930"/>
            </a:xfrm>
            <a:custGeom>
              <a:avLst/>
              <a:gdLst/>
              <a:ahLst/>
              <a:cxnLst/>
              <a:rect l="l" t="t" r="r" b="b"/>
              <a:pathLst>
                <a:path w="7517130" h="248793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7318121" y="0"/>
                  </a:lnTo>
                  <a:cubicBezTo>
                    <a:pt x="7428102" y="0"/>
                    <a:pt x="7517130" y="89154"/>
                    <a:pt x="7517130" y="199009"/>
                  </a:cubicBezTo>
                  <a:lnTo>
                    <a:pt x="7517130" y="2288921"/>
                  </a:lnTo>
                  <a:cubicBezTo>
                    <a:pt x="7517130" y="2398903"/>
                    <a:pt x="7427976" y="2487930"/>
                    <a:pt x="7318121" y="2487930"/>
                  </a:cubicBezTo>
                  <a:lnTo>
                    <a:pt x="199009" y="2487930"/>
                  </a:lnTo>
                  <a:cubicBezTo>
                    <a:pt x="89154" y="2487930"/>
                    <a:pt x="0" y="2398776"/>
                    <a:pt x="0" y="2288921"/>
                  </a:cubicBezTo>
                  <a:close/>
                </a:path>
              </a:pathLst>
            </a:custGeom>
            <a:solidFill>
              <a:srgbClr val="F2F2F2"/>
            </a:solidFill>
            <a:ln w="14288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7517130" cy="2506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/ ML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MediaPipe Pose • TensorFlow.js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131516" y="5547836"/>
            <a:ext cx="5637847" cy="1865947"/>
            <a:chOff x="0" y="0"/>
            <a:chExt cx="7517130" cy="248793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517130" cy="2487930"/>
            </a:xfrm>
            <a:custGeom>
              <a:avLst/>
              <a:gdLst/>
              <a:ahLst/>
              <a:cxnLst/>
              <a:rect l="l" t="t" r="r" b="b"/>
              <a:pathLst>
                <a:path w="7517130" h="248793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7318121" y="0"/>
                  </a:lnTo>
                  <a:cubicBezTo>
                    <a:pt x="7428102" y="0"/>
                    <a:pt x="7517130" y="89154"/>
                    <a:pt x="7517130" y="199009"/>
                  </a:cubicBezTo>
                  <a:lnTo>
                    <a:pt x="7517130" y="2288921"/>
                  </a:lnTo>
                  <a:cubicBezTo>
                    <a:pt x="7517130" y="2398903"/>
                    <a:pt x="7427976" y="2487930"/>
                    <a:pt x="7318121" y="2487930"/>
                  </a:cubicBezTo>
                  <a:lnTo>
                    <a:pt x="199009" y="2487930"/>
                  </a:lnTo>
                  <a:cubicBezTo>
                    <a:pt x="89154" y="2487930"/>
                    <a:pt x="0" y="2398776"/>
                    <a:pt x="0" y="2288921"/>
                  </a:cubicBezTo>
                  <a:close/>
                </a:path>
              </a:pathLst>
            </a:custGeom>
            <a:solidFill>
              <a:srgbClr val="F2F2F2"/>
            </a:solidFill>
            <a:ln w="14288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7517130" cy="2506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Node.js + Express • REST + WebSocket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72916" y="7605236"/>
            <a:ext cx="5637847" cy="1865947"/>
            <a:chOff x="0" y="0"/>
            <a:chExt cx="7517130" cy="248793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517130" cy="2487930"/>
            </a:xfrm>
            <a:custGeom>
              <a:avLst/>
              <a:gdLst/>
              <a:ahLst/>
              <a:cxnLst/>
              <a:rect l="l" t="t" r="r" b="b"/>
              <a:pathLst>
                <a:path w="7517130" h="248793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7318121" y="0"/>
                  </a:lnTo>
                  <a:cubicBezTo>
                    <a:pt x="7428102" y="0"/>
                    <a:pt x="7517130" y="89154"/>
                    <a:pt x="7517130" y="199009"/>
                  </a:cubicBezTo>
                  <a:lnTo>
                    <a:pt x="7517130" y="2288921"/>
                  </a:lnTo>
                  <a:cubicBezTo>
                    <a:pt x="7517130" y="2398903"/>
                    <a:pt x="7427976" y="2487930"/>
                    <a:pt x="7318121" y="2487930"/>
                  </a:cubicBezTo>
                  <a:lnTo>
                    <a:pt x="199009" y="2487930"/>
                  </a:lnTo>
                  <a:cubicBezTo>
                    <a:pt x="89154" y="2487930"/>
                    <a:pt x="0" y="2398776"/>
                    <a:pt x="0" y="2288921"/>
                  </a:cubicBezTo>
                  <a:close/>
                </a:path>
              </a:pathLst>
            </a:custGeom>
            <a:solidFill>
              <a:srgbClr val="F2F2F2"/>
            </a:solidFill>
            <a:ln w="14288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7517130" cy="2506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PostgreSQL (Supabase) • Redis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302216" y="7605236"/>
            <a:ext cx="5637847" cy="1865947"/>
            <a:chOff x="0" y="0"/>
            <a:chExt cx="7517130" cy="248793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517130" cy="2487930"/>
            </a:xfrm>
            <a:custGeom>
              <a:avLst/>
              <a:gdLst/>
              <a:ahLst/>
              <a:cxnLst/>
              <a:rect l="l" t="t" r="r" b="b"/>
              <a:pathLst>
                <a:path w="7517130" h="248793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7318121" y="0"/>
                  </a:lnTo>
                  <a:cubicBezTo>
                    <a:pt x="7428102" y="0"/>
                    <a:pt x="7517130" y="89154"/>
                    <a:pt x="7517130" y="199009"/>
                  </a:cubicBezTo>
                  <a:lnTo>
                    <a:pt x="7517130" y="2288921"/>
                  </a:lnTo>
                  <a:cubicBezTo>
                    <a:pt x="7517130" y="2398903"/>
                    <a:pt x="7427976" y="2487930"/>
                    <a:pt x="7318121" y="2487930"/>
                  </a:cubicBezTo>
                  <a:lnTo>
                    <a:pt x="199009" y="2487930"/>
                  </a:lnTo>
                  <a:cubicBezTo>
                    <a:pt x="89154" y="2487930"/>
                    <a:pt x="0" y="2398776"/>
                    <a:pt x="0" y="2288921"/>
                  </a:cubicBezTo>
                  <a:close/>
                </a:path>
              </a:pathLst>
            </a:custGeom>
            <a:solidFill>
              <a:srgbClr val="F2F2F2"/>
            </a:solidFill>
            <a:ln w="14288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7517130" cy="2506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Auth &amp; Notify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Supabase Auth • Firebase Cloud Msg.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131516" y="7605236"/>
            <a:ext cx="5637847" cy="1865947"/>
            <a:chOff x="0" y="0"/>
            <a:chExt cx="7517130" cy="248793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517130" cy="2487930"/>
            </a:xfrm>
            <a:custGeom>
              <a:avLst/>
              <a:gdLst/>
              <a:ahLst/>
              <a:cxnLst/>
              <a:rect l="l" t="t" r="r" b="b"/>
              <a:pathLst>
                <a:path w="7517130" h="248793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7318121" y="0"/>
                  </a:lnTo>
                  <a:cubicBezTo>
                    <a:pt x="7428102" y="0"/>
                    <a:pt x="7517130" y="89154"/>
                    <a:pt x="7517130" y="199009"/>
                  </a:cubicBezTo>
                  <a:lnTo>
                    <a:pt x="7517130" y="2288921"/>
                  </a:lnTo>
                  <a:cubicBezTo>
                    <a:pt x="7517130" y="2398903"/>
                    <a:pt x="7427976" y="2487930"/>
                    <a:pt x="7318121" y="2487930"/>
                  </a:cubicBezTo>
                  <a:lnTo>
                    <a:pt x="199009" y="2487930"/>
                  </a:lnTo>
                  <a:cubicBezTo>
                    <a:pt x="89154" y="2487930"/>
                    <a:pt x="0" y="2398776"/>
                    <a:pt x="0" y="2288921"/>
                  </a:cubicBezTo>
                  <a:close/>
                </a:path>
              </a:pathLst>
            </a:custGeom>
            <a:solidFill>
              <a:srgbClr val="F2F2F2"/>
            </a:solidFill>
            <a:ln w="14288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7517130" cy="2506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Hosting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Vercel • Railway (free tier)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ELECTRASIX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480060" y="1764030"/>
            <a:ext cx="390906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Feasibility Categories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70535" y="2390775"/>
            <a:ext cx="3928110" cy="2145030"/>
            <a:chOff x="0" y="0"/>
            <a:chExt cx="5237480" cy="28600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37480" cy="2860040"/>
            </a:xfrm>
            <a:custGeom>
              <a:avLst/>
              <a:gdLst/>
              <a:ahLst/>
              <a:cxnLst/>
              <a:rect l="l" t="t" r="r" b="b"/>
              <a:pathLst>
                <a:path w="5237480" h="2860040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108829" y="0"/>
                  </a:lnTo>
                  <a:cubicBezTo>
                    <a:pt x="5179949" y="0"/>
                    <a:pt x="5237480" y="57658"/>
                    <a:pt x="5237480" y="128651"/>
                  </a:cubicBezTo>
                  <a:lnTo>
                    <a:pt x="5237480" y="2731389"/>
                  </a:lnTo>
                  <a:cubicBezTo>
                    <a:pt x="5237480" y="2802509"/>
                    <a:pt x="5179822" y="2860040"/>
                    <a:pt x="5108829" y="2860040"/>
                  </a:cubicBezTo>
                  <a:lnTo>
                    <a:pt x="128651" y="2860040"/>
                  </a:lnTo>
                  <a:cubicBezTo>
                    <a:pt x="57658" y="2860040"/>
                    <a:pt x="0" y="2802382"/>
                    <a:pt x="0" y="2731389"/>
                  </a:cubicBezTo>
                  <a:close/>
                </a:path>
              </a:pathLst>
            </a:custGeom>
            <a:solidFill>
              <a:srgbClr val="DCEBF7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237480" cy="287909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Built entirely on free-tier tools — MediaPipe, Supabase, Vercel/Railway; inference runs on-device.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70535" y="4763643"/>
            <a:ext cx="3928110" cy="2145030"/>
            <a:chOff x="0" y="0"/>
            <a:chExt cx="5237480" cy="28600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237480" cy="2860040"/>
            </a:xfrm>
            <a:custGeom>
              <a:avLst/>
              <a:gdLst/>
              <a:ahLst/>
              <a:cxnLst/>
              <a:rect l="l" t="t" r="r" b="b"/>
              <a:pathLst>
                <a:path w="5237480" h="2860040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108829" y="0"/>
                  </a:lnTo>
                  <a:cubicBezTo>
                    <a:pt x="5179949" y="0"/>
                    <a:pt x="5237480" y="57658"/>
                    <a:pt x="5237480" y="128651"/>
                  </a:cubicBezTo>
                  <a:lnTo>
                    <a:pt x="5237480" y="2731389"/>
                  </a:lnTo>
                  <a:cubicBezTo>
                    <a:pt x="5237480" y="2802509"/>
                    <a:pt x="5179822" y="2860040"/>
                    <a:pt x="5108829" y="2860040"/>
                  </a:cubicBezTo>
                  <a:lnTo>
                    <a:pt x="128651" y="2860040"/>
                  </a:lnTo>
                  <a:cubicBezTo>
                    <a:pt x="57658" y="2860040"/>
                    <a:pt x="0" y="2802382"/>
                    <a:pt x="0" y="2731389"/>
                  </a:cubicBezTo>
                  <a:close/>
                </a:path>
              </a:pathLst>
            </a:custGeom>
            <a:solidFill>
              <a:srgbClr val="DCEBF7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237480" cy="287909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Cost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No paid APIs, no GPU servers — near-zero cost even at full campus scale.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70535" y="7136511"/>
            <a:ext cx="3928110" cy="2145030"/>
            <a:chOff x="0" y="0"/>
            <a:chExt cx="5237480" cy="28600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37480" cy="2860040"/>
            </a:xfrm>
            <a:custGeom>
              <a:avLst/>
              <a:gdLst/>
              <a:ahLst/>
              <a:cxnLst/>
              <a:rect l="l" t="t" r="r" b="b"/>
              <a:pathLst>
                <a:path w="5237480" h="2860040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5108829" y="0"/>
                  </a:lnTo>
                  <a:cubicBezTo>
                    <a:pt x="5179949" y="0"/>
                    <a:pt x="5237480" y="57658"/>
                    <a:pt x="5237480" y="128651"/>
                  </a:cubicBezTo>
                  <a:lnTo>
                    <a:pt x="5237480" y="2731389"/>
                  </a:lnTo>
                  <a:cubicBezTo>
                    <a:pt x="5237480" y="2802509"/>
                    <a:pt x="5179822" y="2860040"/>
                    <a:pt x="5108829" y="2860040"/>
                  </a:cubicBezTo>
                  <a:lnTo>
                    <a:pt x="128651" y="2860040"/>
                  </a:lnTo>
                  <a:cubicBezTo>
                    <a:pt x="57658" y="2860040"/>
                    <a:pt x="0" y="2802382"/>
                    <a:pt x="0" y="2731389"/>
                  </a:cubicBezTo>
                  <a:close/>
                </a:path>
              </a:pathLst>
            </a:custGeom>
            <a:solidFill>
              <a:srgbClr val="DCEBF7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5237480" cy="287909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Delivery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Fully buildable within the hackathon timeframe using existing open-source libraries.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690872" y="1197483"/>
            <a:ext cx="630936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E36C0A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01984" y="1197483"/>
            <a:ext cx="452628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4F7942"/>
                </a:solidFill>
                <a:latin typeface="Arial Bold"/>
                <a:ea typeface="Arial Bold"/>
                <a:cs typeface="Arial Bold"/>
                <a:sym typeface="Arial Bold"/>
              </a:rPr>
              <a:t>Solutions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681347" y="1773555"/>
            <a:ext cx="6328410" cy="2419350"/>
            <a:chOff x="0" y="0"/>
            <a:chExt cx="8437880" cy="3225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437880" cy="3225800"/>
            </a:xfrm>
            <a:custGeom>
              <a:avLst/>
              <a:gdLst/>
              <a:ahLst/>
              <a:cxnLst/>
              <a:rect l="l" t="t" r="r" b="b"/>
              <a:pathLst>
                <a:path w="8437880" h="3225800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8292719" y="0"/>
                  </a:lnTo>
                  <a:cubicBezTo>
                    <a:pt x="8372856" y="0"/>
                    <a:pt x="8437880" y="65024"/>
                    <a:pt x="8437880" y="145161"/>
                  </a:cubicBezTo>
                  <a:lnTo>
                    <a:pt x="8437880" y="3080639"/>
                  </a:lnTo>
                  <a:cubicBezTo>
                    <a:pt x="8437880" y="3160776"/>
                    <a:pt x="8372856" y="3225800"/>
                    <a:pt x="8292719" y="3225800"/>
                  </a:cubicBezTo>
                  <a:lnTo>
                    <a:pt x="145161" y="3225800"/>
                  </a:lnTo>
                  <a:cubicBezTo>
                    <a:pt x="65024" y="3225800"/>
                    <a:pt x="0" y="3160776"/>
                    <a:pt x="0" y="3080639"/>
                  </a:cubicBezTo>
                  <a:close/>
                </a:path>
              </a:pathLst>
            </a:custGeom>
            <a:solidFill>
              <a:srgbClr val="FDE9D9"/>
            </a:solidFill>
            <a:ln w="19050" cap="sq">
              <a:solidFill>
                <a:srgbClr val="E36C0A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8437880" cy="32448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E36C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Verification Reliability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Pose-detection accuracy varies with lighting/camera angle; GPS drift indoors; low-end phones may lag on-device ML models.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292459" y="1773555"/>
            <a:ext cx="6328410" cy="2419350"/>
            <a:chOff x="0" y="0"/>
            <a:chExt cx="8437880" cy="3225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437880" cy="3225800"/>
            </a:xfrm>
            <a:custGeom>
              <a:avLst/>
              <a:gdLst/>
              <a:ahLst/>
              <a:cxnLst/>
              <a:rect l="l" t="t" r="r" b="b"/>
              <a:pathLst>
                <a:path w="8437880" h="3225800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8292719" y="0"/>
                  </a:lnTo>
                  <a:cubicBezTo>
                    <a:pt x="8372856" y="0"/>
                    <a:pt x="8437880" y="65024"/>
                    <a:pt x="8437880" y="145161"/>
                  </a:cubicBezTo>
                  <a:lnTo>
                    <a:pt x="8437880" y="3080639"/>
                  </a:lnTo>
                  <a:cubicBezTo>
                    <a:pt x="8437880" y="3160776"/>
                    <a:pt x="8372856" y="3225800"/>
                    <a:pt x="8292719" y="3225800"/>
                  </a:cubicBezTo>
                  <a:lnTo>
                    <a:pt x="145161" y="3225800"/>
                  </a:lnTo>
                  <a:cubicBezTo>
                    <a:pt x="65024" y="3225800"/>
                    <a:pt x="0" y="3160776"/>
                    <a:pt x="0" y="3080639"/>
                  </a:cubicBezTo>
                  <a:close/>
                </a:path>
              </a:pathLst>
            </a:custGeom>
            <a:solidFill>
              <a:srgbClr val="E2EFDA"/>
            </a:solidFill>
            <a:ln w="19050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8437880" cy="32448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Multi-Layer Verification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Confidence-threshold fallback + manual-log mode; hybrid GPS + step-count validation; lightweight BlazePose-Lite for budget devices.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681347" y="4365879"/>
            <a:ext cx="6328410" cy="2419350"/>
            <a:chOff x="0" y="0"/>
            <a:chExt cx="8437880" cy="3225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437880" cy="3225800"/>
            </a:xfrm>
            <a:custGeom>
              <a:avLst/>
              <a:gdLst/>
              <a:ahLst/>
              <a:cxnLst/>
              <a:rect l="l" t="t" r="r" b="b"/>
              <a:pathLst>
                <a:path w="8437880" h="3225800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8292719" y="0"/>
                  </a:lnTo>
                  <a:cubicBezTo>
                    <a:pt x="8372856" y="0"/>
                    <a:pt x="8437880" y="65024"/>
                    <a:pt x="8437880" y="145161"/>
                  </a:cubicBezTo>
                  <a:lnTo>
                    <a:pt x="8437880" y="3080639"/>
                  </a:lnTo>
                  <a:cubicBezTo>
                    <a:pt x="8437880" y="3160776"/>
                    <a:pt x="8372856" y="3225800"/>
                    <a:pt x="8292719" y="3225800"/>
                  </a:cubicBezTo>
                  <a:lnTo>
                    <a:pt x="145161" y="3225800"/>
                  </a:lnTo>
                  <a:cubicBezTo>
                    <a:pt x="65024" y="3225800"/>
                    <a:pt x="0" y="3160776"/>
                    <a:pt x="0" y="3080639"/>
                  </a:cubicBezTo>
                  <a:close/>
                </a:path>
              </a:pathLst>
            </a:custGeom>
            <a:solidFill>
              <a:srgbClr val="FDE9D9"/>
            </a:solidFill>
            <a:ln w="19050" cap="sq">
              <a:solidFill>
                <a:srgbClr val="E36C0A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8437880" cy="32448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E36C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Fair Cross-Activity Comparison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Comparing very different activities — strength vs. cardio — fairly via calories alone.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292459" y="4365879"/>
            <a:ext cx="6328410" cy="2419350"/>
            <a:chOff x="0" y="0"/>
            <a:chExt cx="8437880" cy="3225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437880" cy="3225800"/>
            </a:xfrm>
            <a:custGeom>
              <a:avLst/>
              <a:gdLst/>
              <a:ahLst/>
              <a:cxnLst/>
              <a:rect l="l" t="t" r="r" b="b"/>
              <a:pathLst>
                <a:path w="8437880" h="3225800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8292719" y="0"/>
                  </a:lnTo>
                  <a:cubicBezTo>
                    <a:pt x="8372856" y="0"/>
                    <a:pt x="8437880" y="65024"/>
                    <a:pt x="8437880" y="145161"/>
                  </a:cubicBezTo>
                  <a:lnTo>
                    <a:pt x="8437880" y="3080639"/>
                  </a:lnTo>
                  <a:cubicBezTo>
                    <a:pt x="8437880" y="3160776"/>
                    <a:pt x="8372856" y="3225800"/>
                    <a:pt x="8292719" y="3225800"/>
                  </a:cubicBezTo>
                  <a:lnTo>
                    <a:pt x="145161" y="3225800"/>
                  </a:lnTo>
                  <a:cubicBezTo>
                    <a:pt x="65024" y="3225800"/>
                    <a:pt x="0" y="3160776"/>
                    <a:pt x="0" y="3080639"/>
                  </a:cubicBezTo>
                  <a:close/>
                </a:path>
              </a:pathLst>
            </a:custGeom>
            <a:solidFill>
              <a:srgbClr val="E2EFDA"/>
            </a:solidFill>
            <a:ln w="19050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8437880" cy="32448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MET-Based Normalization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Calorie normalization ensures squats and jogging compare consistently across all activity types.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681347" y="6958203"/>
            <a:ext cx="6328410" cy="2419350"/>
            <a:chOff x="0" y="0"/>
            <a:chExt cx="8437880" cy="3225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437880" cy="3225800"/>
            </a:xfrm>
            <a:custGeom>
              <a:avLst/>
              <a:gdLst/>
              <a:ahLst/>
              <a:cxnLst/>
              <a:rect l="l" t="t" r="r" b="b"/>
              <a:pathLst>
                <a:path w="8437880" h="3225800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8292719" y="0"/>
                  </a:lnTo>
                  <a:cubicBezTo>
                    <a:pt x="8372856" y="0"/>
                    <a:pt x="8437880" y="65024"/>
                    <a:pt x="8437880" y="145161"/>
                  </a:cubicBezTo>
                  <a:lnTo>
                    <a:pt x="8437880" y="3080639"/>
                  </a:lnTo>
                  <a:cubicBezTo>
                    <a:pt x="8437880" y="3160776"/>
                    <a:pt x="8372856" y="3225800"/>
                    <a:pt x="8292719" y="3225800"/>
                  </a:cubicBezTo>
                  <a:lnTo>
                    <a:pt x="145161" y="3225800"/>
                  </a:lnTo>
                  <a:cubicBezTo>
                    <a:pt x="65024" y="3225800"/>
                    <a:pt x="0" y="3160776"/>
                    <a:pt x="0" y="3080639"/>
                  </a:cubicBezTo>
                  <a:close/>
                </a:path>
              </a:pathLst>
            </a:custGeom>
            <a:solidFill>
              <a:srgbClr val="FDE9D9"/>
            </a:solidFill>
            <a:ln w="19050" cap="sq">
              <a:solidFill>
                <a:srgbClr val="E36C0A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8437880" cy="32448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E36C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Integrity &amp; Inclusion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Students may share/proxy accounts to farm points; day scholars may feel excluded if only hostel blocks are showcased.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292459" y="6958203"/>
            <a:ext cx="6328410" cy="2419350"/>
            <a:chOff x="0" y="0"/>
            <a:chExt cx="8437880" cy="3225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437880" cy="3225800"/>
            </a:xfrm>
            <a:custGeom>
              <a:avLst/>
              <a:gdLst/>
              <a:ahLst/>
              <a:cxnLst/>
              <a:rect l="l" t="t" r="r" b="b"/>
              <a:pathLst>
                <a:path w="8437880" h="3225800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8292719" y="0"/>
                  </a:lnTo>
                  <a:cubicBezTo>
                    <a:pt x="8372856" y="0"/>
                    <a:pt x="8437880" y="65024"/>
                    <a:pt x="8437880" y="145161"/>
                  </a:cubicBezTo>
                  <a:lnTo>
                    <a:pt x="8437880" y="3080639"/>
                  </a:lnTo>
                  <a:cubicBezTo>
                    <a:pt x="8437880" y="3160776"/>
                    <a:pt x="8372856" y="3225800"/>
                    <a:pt x="8292719" y="3225800"/>
                  </a:cubicBezTo>
                  <a:lnTo>
                    <a:pt x="145161" y="3225800"/>
                  </a:lnTo>
                  <a:cubicBezTo>
                    <a:pt x="65024" y="3225800"/>
                    <a:pt x="0" y="3160776"/>
                    <a:pt x="0" y="3080639"/>
                  </a:cubicBezTo>
                  <a:close/>
                </a:path>
              </a:pathLst>
            </a:custGeom>
            <a:solidFill>
              <a:srgbClr val="E2EFDA"/>
            </a:solidFill>
            <a:ln w="19050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8437880" cy="32448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Accountability &amp; Default Inclusion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Timetable/device-fingerprint checks + squad peer accountability; class-wise mode enabled by default for every student.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ELECTRASIX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480060" y="1783080"/>
            <a:ext cx="17323308" cy="754380"/>
            <a:chOff x="0" y="0"/>
            <a:chExt cx="23097744" cy="10058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097744" cy="1005840"/>
            </a:xfrm>
            <a:custGeom>
              <a:avLst/>
              <a:gdLst/>
              <a:ahLst/>
              <a:cxnLst/>
              <a:rect l="l" t="t" r="r" b="b"/>
              <a:pathLst>
                <a:path w="23097744" h="100584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2946868" y="0"/>
                  </a:lnTo>
                  <a:cubicBezTo>
                    <a:pt x="23030180" y="0"/>
                    <a:pt x="23097744" y="67564"/>
                    <a:pt x="23097744" y="150876"/>
                  </a:cubicBezTo>
                  <a:lnTo>
                    <a:pt x="23097744" y="854964"/>
                  </a:lnTo>
                  <a:cubicBezTo>
                    <a:pt x="23097744" y="938276"/>
                    <a:pt x="23030180" y="1005840"/>
                    <a:pt x="22946868" y="1005840"/>
                  </a:cubicBezTo>
                  <a:lnTo>
                    <a:pt x="150876" y="1005840"/>
                  </a:lnTo>
                  <a:cubicBezTo>
                    <a:pt x="67564" y="1005840"/>
                    <a:pt x="0" y="938276"/>
                    <a:pt x="0" y="854964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23097744" cy="1024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100% Student Coverage   •   6+ Verified Activities   •   Top 3 Classes Rewarded Every Week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80060" y="2792730"/>
            <a:ext cx="1732330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9"/>
              </a:lnSpc>
            </a:pPr>
            <a:r>
              <a:rPr lang="en-US" sz="2349" b="1">
                <a:solidFill>
                  <a:srgbClr val="E36C0A"/>
                </a:solidFill>
                <a:latin typeface="Arial Bold"/>
                <a:ea typeface="Arial Bold"/>
                <a:cs typeface="Arial Bold"/>
                <a:sym typeface="Arial Bold"/>
              </a:rPr>
              <a:t>Target Audience Impact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70535" y="3419475"/>
            <a:ext cx="5560314" cy="2076450"/>
            <a:chOff x="0" y="0"/>
            <a:chExt cx="7413752" cy="2768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13752" cy="2768600"/>
            </a:xfrm>
            <a:custGeom>
              <a:avLst/>
              <a:gdLst/>
              <a:ahLst/>
              <a:cxnLst/>
              <a:rect l="l" t="t" r="r" b="b"/>
              <a:pathLst>
                <a:path w="7413752" h="2768600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7289165" y="0"/>
                  </a:lnTo>
                  <a:cubicBezTo>
                    <a:pt x="7357999" y="0"/>
                    <a:pt x="7413752" y="55753"/>
                    <a:pt x="7413752" y="124587"/>
                  </a:cubicBezTo>
                  <a:lnTo>
                    <a:pt x="7413752" y="2644013"/>
                  </a:lnTo>
                  <a:cubicBezTo>
                    <a:pt x="7413752" y="2712847"/>
                    <a:pt x="7357999" y="2768600"/>
                    <a:pt x="7289165" y="2768600"/>
                  </a:cubicBezTo>
                  <a:lnTo>
                    <a:pt x="124587" y="2768600"/>
                  </a:lnTo>
                  <a:cubicBezTo>
                    <a:pt x="55753" y="2768600"/>
                    <a:pt x="0" y="2712847"/>
                    <a:pt x="0" y="2644013"/>
                  </a:cubicBezTo>
                  <a:close/>
                </a:path>
              </a:pathLst>
            </a:custGeom>
            <a:solidFill>
              <a:srgbClr val="FDE9D9"/>
            </a:solidFill>
            <a:ln w="19050" cap="sq">
              <a:solidFill>
                <a:srgbClr val="E36C0A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7413752" cy="27876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E36C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Hostellers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Block-wise leagues turn dorm life into daily friendly competition.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54699" y="3419475"/>
            <a:ext cx="5560314" cy="2076450"/>
            <a:chOff x="0" y="0"/>
            <a:chExt cx="7413752" cy="2768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413752" cy="2768600"/>
            </a:xfrm>
            <a:custGeom>
              <a:avLst/>
              <a:gdLst/>
              <a:ahLst/>
              <a:cxnLst/>
              <a:rect l="l" t="t" r="r" b="b"/>
              <a:pathLst>
                <a:path w="7413752" h="2768600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7289165" y="0"/>
                  </a:lnTo>
                  <a:cubicBezTo>
                    <a:pt x="7357999" y="0"/>
                    <a:pt x="7413752" y="55753"/>
                    <a:pt x="7413752" y="124587"/>
                  </a:cubicBezTo>
                  <a:lnTo>
                    <a:pt x="7413752" y="2644013"/>
                  </a:lnTo>
                  <a:cubicBezTo>
                    <a:pt x="7413752" y="2712847"/>
                    <a:pt x="7357999" y="2768600"/>
                    <a:pt x="7289165" y="2768600"/>
                  </a:cubicBezTo>
                  <a:lnTo>
                    <a:pt x="124587" y="2768600"/>
                  </a:lnTo>
                  <a:cubicBezTo>
                    <a:pt x="55753" y="2768600"/>
                    <a:pt x="0" y="2712847"/>
                    <a:pt x="0" y="2644013"/>
                  </a:cubicBezTo>
                  <a:close/>
                </a:path>
              </a:pathLst>
            </a:custGeom>
            <a:solidFill>
              <a:srgbClr val="FDE9D9"/>
            </a:solidFill>
            <a:ln w="19050" cap="sq">
              <a:solidFill>
                <a:srgbClr val="E36C0A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7413752" cy="27876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E36C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Day Scholars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Class-wise leagues ensure equal participation regardless of where they live.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238863" y="3419475"/>
            <a:ext cx="5560314" cy="2076450"/>
            <a:chOff x="0" y="0"/>
            <a:chExt cx="7413752" cy="2768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413752" cy="2768600"/>
            </a:xfrm>
            <a:custGeom>
              <a:avLst/>
              <a:gdLst/>
              <a:ahLst/>
              <a:cxnLst/>
              <a:rect l="l" t="t" r="r" b="b"/>
              <a:pathLst>
                <a:path w="7413752" h="2768600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7289165" y="0"/>
                  </a:lnTo>
                  <a:cubicBezTo>
                    <a:pt x="7357999" y="0"/>
                    <a:pt x="7413752" y="55753"/>
                    <a:pt x="7413752" y="124587"/>
                  </a:cubicBezTo>
                  <a:lnTo>
                    <a:pt x="7413752" y="2644013"/>
                  </a:lnTo>
                  <a:cubicBezTo>
                    <a:pt x="7413752" y="2712847"/>
                    <a:pt x="7357999" y="2768600"/>
                    <a:pt x="7289165" y="2768600"/>
                  </a:cubicBezTo>
                  <a:lnTo>
                    <a:pt x="124587" y="2768600"/>
                  </a:lnTo>
                  <a:cubicBezTo>
                    <a:pt x="55753" y="2768600"/>
                    <a:pt x="0" y="2712847"/>
                    <a:pt x="0" y="2644013"/>
                  </a:cubicBezTo>
                  <a:close/>
                </a:path>
              </a:pathLst>
            </a:custGeom>
            <a:solidFill>
              <a:srgbClr val="FDE9D9"/>
            </a:solidFill>
            <a:ln w="19050" cap="sq">
              <a:solidFill>
                <a:srgbClr val="E36C0A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7413752" cy="27876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E36C0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Institutions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Aggregated campus-wide wellness data across every department.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80060" y="5810250"/>
            <a:ext cx="17323308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4F7942"/>
                </a:solidFill>
                <a:latin typeface="Arial Bold"/>
                <a:ea typeface="Arial Bold"/>
                <a:cs typeface="Arial Bold"/>
                <a:sym typeface="Arial Bold"/>
              </a:rPr>
              <a:t>Benefit Analysis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70535" y="6368415"/>
            <a:ext cx="5560314" cy="2076450"/>
            <a:chOff x="0" y="0"/>
            <a:chExt cx="7413752" cy="2768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413752" cy="2768600"/>
            </a:xfrm>
            <a:custGeom>
              <a:avLst/>
              <a:gdLst/>
              <a:ahLst/>
              <a:cxnLst/>
              <a:rect l="l" t="t" r="r" b="b"/>
              <a:pathLst>
                <a:path w="7413752" h="2768600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7289165" y="0"/>
                  </a:lnTo>
                  <a:cubicBezTo>
                    <a:pt x="7357999" y="0"/>
                    <a:pt x="7413752" y="55753"/>
                    <a:pt x="7413752" y="124587"/>
                  </a:cubicBezTo>
                  <a:lnTo>
                    <a:pt x="7413752" y="2644013"/>
                  </a:lnTo>
                  <a:cubicBezTo>
                    <a:pt x="7413752" y="2712847"/>
                    <a:pt x="7357999" y="2768600"/>
                    <a:pt x="7289165" y="2768600"/>
                  </a:cubicBezTo>
                  <a:lnTo>
                    <a:pt x="124587" y="2768600"/>
                  </a:lnTo>
                  <a:cubicBezTo>
                    <a:pt x="55753" y="2768600"/>
                    <a:pt x="0" y="2712847"/>
                    <a:pt x="0" y="2644013"/>
                  </a:cubicBezTo>
                  <a:close/>
                </a:path>
              </a:pathLst>
            </a:custGeom>
            <a:solidFill>
              <a:srgbClr val="E2EFDA"/>
            </a:solidFill>
            <a:ln w="19050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7413752" cy="27876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Social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Peer-driven class pride, hostel spirit, and squad accountability replace notification-based nagging — for everyone, not just residents.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354699" y="6368415"/>
            <a:ext cx="5560314" cy="2076450"/>
            <a:chOff x="0" y="0"/>
            <a:chExt cx="7413752" cy="2768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413752" cy="2768600"/>
            </a:xfrm>
            <a:custGeom>
              <a:avLst/>
              <a:gdLst/>
              <a:ahLst/>
              <a:cxnLst/>
              <a:rect l="l" t="t" r="r" b="b"/>
              <a:pathLst>
                <a:path w="7413752" h="2768600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7289165" y="0"/>
                  </a:lnTo>
                  <a:cubicBezTo>
                    <a:pt x="7357999" y="0"/>
                    <a:pt x="7413752" y="55753"/>
                    <a:pt x="7413752" y="124587"/>
                  </a:cubicBezTo>
                  <a:lnTo>
                    <a:pt x="7413752" y="2644013"/>
                  </a:lnTo>
                  <a:cubicBezTo>
                    <a:pt x="7413752" y="2712847"/>
                    <a:pt x="7357999" y="2768600"/>
                    <a:pt x="7289165" y="2768600"/>
                  </a:cubicBezTo>
                  <a:lnTo>
                    <a:pt x="124587" y="2768600"/>
                  </a:lnTo>
                  <a:cubicBezTo>
                    <a:pt x="55753" y="2768600"/>
                    <a:pt x="0" y="2712847"/>
                    <a:pt x="0" y="2644013"/>
                  </a:cubicBezTo>
                  <a:close/>
                </a:path>
              </a:pathLst>
            </a:custGeom>
            <a:solidFill>
              <a:srgbClr val="E2EFDA"/>
            </a:solidFill>
            <a:ln w="19050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7413752" cy="27876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Institutional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Colleges get aggregated wellness data across all departments to support NAAC/NIRF wellness metrics.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238863" y="6368415"/>
            <a:ext cx="5560314" cy="2076450"/>
            <a:chOff x="0" y="0"/>
            <a:chExt cx="7413752" cy="2768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413752" cy="2768600"/>
            </a:xfrm>
            <a:custGeom>
              <a:avLst/>
              <a:gdLst/>
              <a:ahLst/>
              <a:cxnLst/>
              <a:rect l="l" t="t" r="r" b="b"/>
              <a:pathLst>
                <a:path w="7413752" h="2768600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7289165" y="0"/>
                  </a:lnTo>
                  <a:cubicBezTo>
                    <a:pt x="7357999" y="0"/>
                    <a:pt x="7413752" y="55753"/>
                    <a:pt x="7413752" y="124587"/>
                  </a:cubicBezTo>
                  <a:lnTo>
                    <a:pt x="7413752" y="2644013"/>
                  </a:lnTo>
                  <a:cubicBezTo>
                    <a:pt x="7413752" y="2712847"/>
                    <a:pt x="7357999" y="2768600"/>
                    <a:pt x="7289165" y="2768600"/>
                  </a:cubicBezTo>
                  <a:lnTo>
                    <a:pt x="124587" y="2768600"/>
                  </a:lnTo>
                  <a:cubicBezTo>
                    <a:pt x="55753" y="2768600"/>
                    <a:pt x="0" y="2712847"/>
                    <a:pt x="0" y="2644013"/>
                  </a:cubicBezTo>
                  <a:close/>
                </a:path>
              </a:pathLst>
            </a:custGeom>
            <a:solidFill>
              <a:srgbClr val="E2EFDA"/>
            </a:solidFill>
            <a:ln w="19050" cap="sq">
              <a:solidFill>
                <a:srgbClr val="4F7942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7413752" cy="27876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4F79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Reward Ecosystem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• Weekly points redeemable at partnered campus canteens and stationery shops for discounts or freebies.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ELECTRASIX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480060" y="1773555"/>
            <a:ext cx="1732330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AI &amp; Fitness Tracking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2960" y="2322195"/>
            <a:ext cx="1673352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MediaPipe Pose (Google) — </a:t>
            </a:r>
            <a:r>
              <a:rPr lang="en-US" sz="2024" u="sng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https://developers.google.com/mediapipe/solutions/vision/pose_landmarker </a:t>
            </a: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— on-device 33-keypoint pose estimation used for rep verification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0060" y="3172587"/>
            <a:ext cx="1732330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1">
                <a:solidFill>
                  <a:srgbClr val="E36C0A"/>
                </a:solidFill>
                <a:latin typeface="Arial Bold"/>
                <a:ea typeface="Arial Bold"/>
                <a:cs typeface="Arial Bold"/>
                <a:sym typeface="Arial Bold"/>
              </a:rPr>
              <a:t>Standards &amp; Data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2960" y="3721227"/>
            <a:ext cx="1673352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MET Activity Compendium — </a:t>
            </a:r>
            <a:r>
              <a:rPr lang="en-US" sz="2024" u="sng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sites.google.com/site/compendiumofphysicalactivities</a:t>
            </a: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— standard MET values used to convert reps/duration into comparable calorie estimates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0060" y="4571619"/>
            <a:ext cx="1732330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1">
                <a:solidFill>
                  <a:srgbClr val="4F7942"/>
                </a:solidFill>
                <a:latin typeface="Arial Bold"/>
                <a:ea typeface="Arial Bold"/>
                <a:cs typeface="Arial Bold"/>
                <a:sym typeface="Arial Bold"/>
              </a:rPr>
              <a:t>Government Alignment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2960" y="5120259"/>
            <a:ext cx="1673352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Fit India Movement —</a:t>
            </a:r>
            <a:r>
              <a:rPr lang="en-US" sz="2024" u="sng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fitindia.gov.in </a:t>
            </a: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— Government of India initiative on youth fitness that this solution directly aligns with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2960" y="5806059"/>
            <a:ext cx="1673352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NAAC/NIRF Wellness Guidelines — </a:t>
            </a:r>
            <a:r>
              <a:rPr lang="en-US" sz="2024" u="sng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naac.gov.in </a:t>
            </a: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— institutional criteria referenced for the admin wellness-dashboard use case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0060" y="6656451"/>
            <a:ext cx="1732330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2324" b="1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Backend Infrastructure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2960" y="7205091"/>
            <a:ext cx="1673352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Supabase Documentation — </a:t>
            </a:r>
            <a:r>
              <a:rPr lang="en-US" sz="2024" u="sng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supabase.com/docs </a:t>
            </a:r>
            <a:r>
              <a:rPr lang="en-US" sz="202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— Postgres + Auth + Realtime backend used for leaderboard and user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Microsoft Office PowerPoint</Application>
  <PresentationFormat>Custom</PresentationFormat>
  <Paragraphs>133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Calibri</vt:lpstr>
      <vt:lpstr>Arial Bold</vt:lpstr>
      <vt:lpstr>Arimo</vt:lpstr>
      <vt:lpstr>Times New Roman Bold</vt:lpstr>
      <vt:lpstr>Arimo Bold</vt:lpstr>
      <vt:lpstr>Garamond Bold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SIH2026-FitQuest-Campus-Infographic-Format.pptx</dc:title>
  <dc:creator>Sarvin</dc:creator>
  <cp:lastModifiedBy>Sarvin ND</cp:lastModifiedBy>
  <cp:revision>2</cp:revision>
  <dcterms:created xsi:type="dcterms:W3CDTF">2006-08-16T00:00:00Z</dcterms:created>
  <dcterms:modified xsi:type="dcterms:W3CDTF">2026-08-30T12:22:59Z</dcterms:modified>
  <dc:identifier>DAHTwYpWOpg</dc:identifier>
</cp:coreProperties>
</file>